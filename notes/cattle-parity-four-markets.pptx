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rgbClr val="FFB056"/>
            </a:solidFill>
            <a:ln w="28575" cap="flat">
              <a:solidFill>
                <a:srgbClr val="FFB0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B056"/>
              </a:solidFill>
              <a:ln w="9525" cap="flat">
                <a:solidFill>
                  <a:srgbClr val="FFB0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Sheet1!$A$2:$A$68</c:f>
              <c:multiLvlStrCache>
                <c:ptCount val="67"/>
                <c:lvl>
                  <c:pt idx="0">
                    <c:v>2010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2011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2012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2014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2015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2016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2017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2018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2019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2021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2022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2024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2025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2026</c:v>
                  </c:pt>
                  <c:pt idx="65">
                    <c:v/>
                  </c:pt>
                  <c:pt idx="66">
                    <c:v/>
                  </c:pt>
                </c:lvl>
              </c:multiLvlStrCache>
            </c:multiLvlStrRef>
          </c:cat>
          <c:val>
            <c:numRef>
              <c:f>Sheet1!$B$2:$B$68</c:f>
              <c:numCache>
                <c:formatCode>General</c:formatCode>
                <c:ptCount val="67"/>
                <c:pt idx="0">
                  <c:v>71</c:v>
                </c:pt>
                <c:pt idx="1">
                  <c:v>77.2</c:v>
                </c:pt>
                <c:pt idx="2">
                  <c:v>69.9</c:v>
                </c:pt>
                <c:pt idx="3">
                  <c:v>51.8</c:v>
                </c:pt>
                <c:pt idx="4">
                  <c:v>50.3</c:v>
                </c:pt>
                <c:pt idx="5">
                  <c:v>45</c:v>
                </c:pt>
                <c:pt idx="6">
                  <c:v>45.2</c:v>
                </c:pt>
                <c:pt idx="7">
                  <c:v>53.6</c:v>
                </c:pt>
                <c:pt idx="8">
                  <c:v>54.7</c:v>
                </c:pt>
                <c:pt idx="9">
                  <c:v>55.7</c:v>
                </c:pt>
                <c:pt idx="10">
                  <c:v>44.6</c:v>
                </c:pt>
                <c:pt idx="11">
                  <c:v>47.3</c:v>
                </c:pt>
                <c:pt idx="12">
                  <c:v>47.8</c:v>
                </c:pt>
                <c:pt idx="13">
                  <c:v>50.9</c:v>
                </c:pt>
                <c:pt idx="14">
                  <c:v>61</c:v>
                </c:pt>
                <c:pt idx="15">
                  <c:v>85.3</c:v>
                </c:pt>
                <c:pt idx="16">
                  <c:v>91.4</c:v>
                </c:pt>
                <c:pt idx="17">
                  <c:v>87.2</c:v>
                </c:pt>
                <c:pt idx="18">
                  <c:v>126.7</c:v>
                </c:pt>
                <c:pt idx="19">
                  <c:v>133.9</c:v>
                </c:pt>
                <c:pt idx="20">
                  <c:v>122</c:v>
                </c:pt>
                <c:pt idx="21">
                  <c:v>124.6</c:v>
                </c:pt>
                <c:pt idx="22">
                  <c:v>109.2</c:v>
                </c:pt>
                <c:pt idx="23">
                  <c:v>99.8</c:v>
                </c:pt>
                <c:pt idx="24">
                  <c:v>107.1</c:v>
                </c:pt>
                <c:pt idx="25">
                  <c:v>96.5</c:v>
                </c:pt>
                <c:pt idx="26">
                  <c:v>104.1</c:v>
                </c:pt>
                <c:pt idx="27">
                  <c:v>92.2</c:v>
                </c:pt>
                <c:pt idx="28">
                  <c:v>97.2</c:v>
                </c:pt>
                <c:pt idx="29">
                  <c:v>103.4</c:v>
                </c:pt>
                <c:pt idx="30">
                  <c:v>94.1</c:v>
                </c:pt>
                <c:pt idx="31">
                  <c:v>102.4</c:v>
                </c:pt>
                <c:pt idx="32">
                  <c:v>99.3</c:v>
                </c:pt>
                <c:pt idx="33">
                  <c:v>87.5</c:v>
                </c:pt>
                <c:pt idx="34">
                  <c:v>93.3</c:v>
                </c:pt>
                <c:pt idx="35">
                  <c:v>89.8</c:v>
                </c:pt>
                <c:pt idx="36">
                  <c:v>96</c:v>
                </c:pt>
                <c:pt idx="37">
                  <c:v>87.8</c:v>
                </c:pt>
                <c:pt idx="38">
                  <c:v>77.6</c:v>
                </c:pt>
                <c:pt idx="39">
                  <c:v>82.3</c:v>
                </c:pt>
                <c:pt idx="40">
                  <c:v>84</c:v>
                </c:pt>
                <c:pt idx="41">
                  <c:v>97.6</c:v>
                </c:pt>
                <c:pt idx="42">
                  <c:v>91.1</c:v>
                </c:pt>
                <c:pt idx="43">
                  <c:v>74.1</c:v>
                </c:pt>
                <c:pt idx="44">
                  <c:v>57.4</c:v>
                </c:pt>
                <c:pt idx="45">
                  <c:v>50.2</c:v>
                </c:pt>
                <c:pt idx="46">
                  <c:v>56.8</c:v>
                </c:pt>
                <c:pt idx="47">
                  <c:v>63.9</c:v>
                </c:pt>
                <c:pt idx="48">
                  <c:v>58.5</c:v>
                </c:pt>
                <c:pt idx="49">
                  <c:v>50.4</c:v>
                </c:pt>
                <c:pt idx="50">
                  <c:v>55.8</c:v>
                </c:pt>
                <c:pt idx="51">
                  <c:v>59.6</c:v>
                </c:pt>
                <c:pt idx="52">
                  <c:v>65.3</c:v>
                </c:pt>
                <c:pt idx="53">
                  <c:v>74.9</c:v>
                </c:pt>
                <c:pt idx="54">
                  <c:v>100.7</c:v>
                </c:pt>
                <c:pt idx="55">
                  <c:v>105.3</c:v>
                </c:pt>
                <c:pt idx="56">
                  <c:v>117.6</c:v>
                </c:pt>
                <c:pt idx="57">
                  <c:v>123.8</c:v>
                </c:pt>
                <c:pt idx="58">
                  <c:v>142.6</c:v>
                </c:pt>
                <c:pt idx="59">
                  <c:v>131.5</c:v>
                </c:pt>
                <c:pt idx="60">
                  <c:v>127.9</c:v>
                </c:pt>
                <c:pt idx="61">
                  <c:v>146.3</c:v>
                </c:pt>
                <c:pt idx="62">
                  <c:v>180.1</c:v>
                </c:pt>
                <c:pt idx="63">
                  <c:v>165.8</c:v>
                </c:pt>
                <c:pt idx="64">
                  <c:v>167.1</c:v>
                </c:pt>
                <c:pt idx="65">
                  <c:v>173.7</c:v>
                </c:pt>
                <c:pt idx="66">
                  <c:v>169.5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EUROPEAN UNION</c:v>
                </c:pt>
              </c:strCache>
            </c:strRef>
          </c:tx>
          <c:spPr>
            <a:solidFill>
              <a:srgbClr val="8AA0D8"/>
            </a:solidFill>
            <a:ln w="28575" cap="flat">
              <a:solidFill>
                <a:srgbClr val="8AA0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A0D8"/>
              </a:solidFill>
              <a:ln w="9525" cap="flat">
                <a:solidFill>
                  <a:srgbClr val="8AA0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Sheet1!$A$2:$A$68</c:f>
              <c:multiLvlStrCache>
                <c:ptCount val="67"/>
                <c:lvl>
                  <c:pt idx="0">
                    <c:v>2010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2011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2012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2014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2015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2016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2017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2018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2019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2021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2022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2024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2025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2026</c:v>
                  </c:pt>
                  <c:pt idx="65">
                    <c:v/>
                  </c:pt>
                  <c:pt idx="66">
                    <c:v/>
                  </c:pt>
                </c:lvl>
              </c:multiLvlStrCache>
            </c:multiLvlStrRef>
          </c:cat>
          <c:val>
            <c:numRef>
              <c:f>Sheet1!$C$2:$C$68</c:f>
              <c:numCache>
                <c:formatCode>General</c:formatCode>
                <c:ptCount val="6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101.8</c:v>
                </c:pt>
                <c:pt idx="24">
                  <c:v>104.6</c:v>
                </c:pt>
                <c:pt idx="25">
                  <c:v>96.3</c:v>
                </c:pt>
                <c:pt idx="26">
                  <c:v>95.5</c:v>
                </c:pt>
                <c:pt idx="27">
                  <c:v>103.6</c:v>
                </c:pt>
                <c:pt idx="28">
                  <c:v>100.1</c:v>
                </c:pt>
                <c:pt idx="29">
                  <c:v>97.1</c:v>
                </c:pt>
                <c:pt idx="30">
                  <c:v>100.2</c:v>
                </c:pt>
                <c:pt idx="31">
                  <c:v>109.2</c:v>
                </c:pt>
                <c:pt idx="32">
                  <c:v>106.4</c:v>
                </c:pt>
                <c:pt idx="33">
                  <c:v>98.8</c:v>
                </c:pt>
                <c:pt idx="34">
                  <c:v>94.2</c:v>
                </c:pt>
                <c:pt idx="35">
                  <c:v>100</c:v>
                </c:pt>
                <c:pt idx="36">
                  <c:v>97.4</c:v>
                </c:pt>
                <c:pt idx="37">
                  <c:v>95.3</c:v>
                </c:pt>
                <c:pt idx="38">
                  <c:v>94</c:v>
                </c:pt>
                <c:pt idx="39">
                  <c:v>99.9</c:v>
                </c:pt>
                <c:pt idx="40">
                  <c:v>96.6</c:v>
                </c:pt>
                <c:pt idx="41">
                  <c:v>91.7</c:v>
                </c:pt>
                <c:pt idx="42">
                  <c:v>90.7</c:v>
                </c:pt>
                <c:pt idx="43">
                  <c:v>87.3</c:v>
                </c:pt>
                <c:pt idx="44">
                  <c:v>78</c:v>
                </c:pt>
                <c:pt idx="45">
                  <c:v>71.3</c:v>
                </c:pt>
                <c:pt idx="46">
                  <c:v>70.6</c:v>
                </c:pt>
                <c:pt idx="47">
                  <c:v>73.3</c:v>
                </c:pt>
                <c:pt idx="48">
                  <c:v>71.2</c:v>
                </c:pt>
                <c:pt idx="49">
                  <c:v>63.3</c:v>
                </c:pt>
                <c:pt idx="50">
                  <c:v>64.7</c:v>
                </c:pt>
                <c:pt idx="51">
                  <c:v>69.5</c:v>
                </c:pt>
                <c:pt idx="52">
                  <c:v>76.7</c:v>
                </c:pt>
                <c:pt idx="53">
                  <c:v>86.7</c:v>
                </c:pt>
                <c:pt idx="54">
                  <c:v>90.8</c:v>
                </c:pt>
                <c:pt idx="55">
                  <c:v>101.9</c:v>
                </c:pt>
                <c:pt idx="56">
                  <c:v>110.4</c:v>
                </c:pt>
                <c:pt idx="57">
                  <c:v>106.6</c:v>
                </c:pt>
                <c:pt idx="58">
                  <c:v>105.4</c:v>
                </c:pt>
                <c:pt idx="59">
                  <c:v>112.2</c:v>
                </c:pt>
                <c:pt idx="60">
                  <c:v>118.8</c:v>
                </c:pt>
                <c:pt idx="61">
                  <c:v>131.6</c:v>
                </c:pt>
                <c:pt idx="62">
                  <c:v>136.2</c:v>
                </c:pt>
                <c:pt idx="63">
                  <c:v>149.8</c:v>
                </c:pt>
                <c:pt idx="64">
                  <c:v>151.8</c:v>
                </c:pt>
                <c:pt idx="65">
                  <c:v>134.9</c:v>
                </c:pt>
                <c:pt idx="66">
                  <c:v>121.9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TÜRKİYE</c:v>
                </c:pt>
              </c:strCache>
            </c:strRef>
          </c:tx>
          <c:spPr>
            <a:solidFill>
              <a:srgbClr val="E2574C"/>
            </a:solidFill>
            <a:ln w="28575" cap="flat">
              <a:solidFill>
                <a:srgbClr val="E257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2574C"/>
              </a:solidFill>
              <a:ln w="9525" cap="flat">
                <a:solidFill>
                  <a:srgbClr val="E257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Sheet1!$A$2:$A$68</c:f>
              <c:multiLvlStrCache>
                <c:ptCount val="67"/>
                <c:lvl>
                  <c:pt idx="0">
                    <c:v>2010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2011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2012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2014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2015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2016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2017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2018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2019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2021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2022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2024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2025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2026</c:v>
                  </c:pt>
                  <c:pt idx="65">
                    <c:v/>
                  </c:pt>
                  <c:pt idx="66">
                    <c:v/>
                  </c:pt>
                </c:lvl>
              </c:multiLvlStrCache>
            </c:multiLvlStrRef>
          </c:cat>
          <c:val>
            <c:numRef>
              <c:f>Sheet1!$D$2:$D$68</c:f>
              <c:numCache>
                <c:formatCode>General</c:formatCode>
                <c:ptCount val="67"/>
                <c:pt idx="0">
                  <c:v>113.3</c:v>
                </c:pt>
                <c:pt idx="1">
                  <c:v>118.8</c:v>
                </c:pt>
                <c:pt idx="2">
                  <c:v>117.4</c:v>
                </c:pt>
                <c:pt idx="3">
                  <c:v>102.6</c:v>
                </c:pt>
                <c:pt idx="4">
                  <c:v>94.5</c:v>
                </c:pt>
                <c:pt idx="5">
                  <c:v>97</c:v>
                </c:pt>
                <c:pt idx="6">
                  <c:v>96.8</c:v>
                </c:pt>
                <c:pt idx="7">
                  <c:v>91.4</c:v>
                </c:pt>
                <c:pt idx="8">
                  <c:v>95.7</c:v>
                </c:pt>
                <c:pt idx="9">
                  <c:v>97.5</c:v>
                </c:pt>
                <c:pt idx="10">
                  <c:v>95.5</c:v>
                </c:pt>
                <c:pt idx="11">
                  <c:v>89.3</c:v>
                </c:pt>
                <c:pt idx="12">
                  <c:v>87.5</c:v>
                </c:pt>
                <c:pt idx="13">
                  <c:v>93.6</c:v>
                </c:pt>
                <c:pt idx="14">
                  <c:v>89.8</c:v>
                </c:pt>
                <c:pt idx="15">
                  <c:v>89.7</c:v>
                </c:pt>
                <c:pt idx="16">
                  <c:v>98.3</c:v>
                </c:pt>
                <c:pt idx="17">
                  <c:v>97.5</c:v>
                </c:pt>
                <c:pt idx="18">
                  <c:v>98.5</c:v>
                </c:pt>
                <c:pt idx="19">
                  <c:v>95.7</c:v>
                </c:pt>
                <c:pt idx="20">
                  <c:v>97.6</c:v>
                </c:pt>
                <c:pt idx="21">
                  <c:v>102</c:v>
                </c:pt>
                <c:pt idx="22">
                  <c:v>105.2</c:v>
                </c:pt>
                <c:pt idx="23">
                  <c:v>98.3</c:v>
                </c:pt>
                <c:pt idx="24">
                  <c:v>98.3</c:v>
                </c:pt>
                <c:pt idx="25">
                  <c:v>105.7</c:v>
                </c:pt>
                <c:pt idx="26">
                  <c:v>97.8</c:v>
                </c:pt>
                <c:pt idx="27">
                  <c:v>98.3</c:v>
                </c:pt>
                <c:pt idx="28">
                  <c:v>96.9</c:v>
                </c:pt>
                <c:pt idx="29">
                  <c:v>105.6</c:v>
                </c:pt>
                <c:pt idx="30">
                  <c:v>107.5</c:v>
                </c:pt>
                <c:pt idx="31">
                  <c:v>94</c:v>
                </c:pt>
                <c:pt idx="32">
                  <c:v>90.2</c:v>
                </c:pt>
                <c:pt idx="33">
                  <c:v>89.3</c:v>
                </c:pt>
                <c:pt idx="34">
                  <c:v>88.1</c:v>
                </c:pt>
                <c:pt idx="35">
                  <c:v>84.2</c:v>
                </c:pt>
                <c:pt idx="36">
                  <c:v>81.8</c:v>
                </c:pt>
                <c:pt idx="37">
                  <c:v>89.2</c:v>
                </c:pt>
                <c:pt idx="38">
                  <c:v>85.3</c:v>
                </c:pt>
                <c:pt idx="39">
                  <c:v>84.2</c:v>
                </c:pt>
                <c:pt idx="40">
                  <c:v>85</c:v>
                </c:pt>
                <c:pt idx="41">
                  <c:v>80.4</c:v>
                </c:pt>
                <c:pt idx="42">
                  <c:v>75.1</c:v>
                </c:pt>
                <c:pt idx="43">
                  <c:v>70.2</c:v>
                </c:pt>
                <c:pt idx="44">
                  <c:v>73.3</c:v>
                </c:pt>
                <c:pt idx="45">
                  <c:v>72</c:v>
                </c:pt>
                <c:pt idx="46">
                  <c:v>72.5</c:v>
                </c:pt>
                <c:pt idx="47">
                  <c:v>68.3</c:v>
                </c:pt>
                <c:pt idx="48">
                  <c:v>66.3</c:v>
                </c:pt>
                <c:pt idx="49">
                  <c:v>72.6</c:v>
                </c:pt>
                <c:pt idx="50">
                  <c:v>71.8</c:v>
                </c:pt>
                <c:pt idx="51">
                  <c:v>73.7</c:v>
                </c:pt>
                <c:pt idx="52">
                  <c:v>90</c:v>
                </c:pt>
                <c:pt idx="53">
                  <c:v>109.6</c:v>
                </c:pt>
                <c:pt idx="54">
                  <c:v>109.2</c:v>
                </c:pt>
                <c:pt idx="55">
                  <c:v>114.4</c:v>
                </c:pt>
                <c:pt idx="56">
                  <c:v>115</c:v>
                </c:pt>
                <c:pt idx="57">
                  <c:v>128.3</c:v>
                </c:pt>
                <c:pt idx="58">
                  <c:v>123</c:v>
                </c:pt>
                <c:pt idx="59">
                  <c:v>116.9</c:v>
                </c:pt>
                <c:pt idx="60">
                  <c:v>120.8</c:v>
                </c:pt>
                <c:pt idx="61">
                  <c:v>116</c:v>
                </c:pt>
                <c:pt idx="62">
                  <c:v>112.3</c:v>
                </c:pt>
                <c:pt idx="63">
                  <c:v>112.2</c:v>
                </c:pt>
                <c:pt idx="64">
                  <c:v>121.9</c:v>
                </c:pt>
                <c:pt idx="65">
                  <c:v>122.1</c:v>
                </c:pt>
                <c:pt idx="66">
                  <c:v>119.9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ISRAEL</c:v>
                </c:pt>
              </c:strCache>
            </c:strRef>
          </c:tx>
          <c:spPr>
            <a:solidFill>
              <a:srgbClr val="46C8B2"/>
            </a:solidFill>
            <a:ln w="28575" cap="flat">
              <a:solidFill>
                <a:srgbClr val="46C8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6C8B2"/>
              </a:solidFill>
              <a:ln w="9525" cap="flat">
                <a:solidFill>
                  <a:srgbClr val="46C8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Sheet1!$A$2:$A$68</c:f>
              <c:multiLvlStrCache>
                <c:ptCount val="67"/>
                <c:lvl>
                  <c:pt idx="0">
                    <c:v>2010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2011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2012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2014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2015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2016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2017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2018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2019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2021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2022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>2023</c:v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>2024</c:v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2025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>2026</c:v>
                  </c:pt>
                  <c:pt idx="65">
                    <c:v/>
                  </c:pt>
                  <c:pt idx="66">
                    <c:v/>
                  </c:pt>
                </c:lvl>
              </c:multiLvlStrCache>
            </c:multiLvlStrRef>
          </c:cat>
          <c:val>
            <c:numRef>
              <c:f>Sheet1!$E$2:$E$68</c:f>
              <c:numCache>
                <c:formatCode>General</c:formatCode>
                <c:ptCount val="67"/>
                <c:pt idx="0">
                  <c:v>91.4</c:v>
                </c:pt>
                <c:pt idx="1">
                  <c:v>95</c:v>
                </c:pt>
                <c:pt idx="2">
                  <c:v>93.5</c:v>
                </c:pt>
                <c:pt idx="3">
                  <c:v>89.4</c:v>
                </c:pt>
                <c:pt idx="4">
                  <c:v>87.3</c:v>
                </c:pt>
                <c:pt idx="5">
                  <c:v>84.7</c:v>
                </c:pt>
                <c:pt idx="6">
                  <c:v>82.5</c:v>
                </c:pt>
                <c:pt idx="7">
                  <c:v>83</c:v>
                </c:pt>
                <c:pt idx="8">
                  <c:v>83.2</c:v>
                </c:pt>
                <c:pt idx="9">
                  <c:v>83</c:v>
                </c:pt>
                <c:pt idx="10">
                  <c:v>78.4</c:v>
                </c:pt>
                <c:pt idx="11">
                  <c:v>76</c:v>
                </c:pt>
                <c:pt idx="12">
                  <c:v>76.5</c:v>
                </c:pt>
                <c:pt idx="13">
                  <c:v>81.3</c:v>
                </c:pt>
                <c:pt idx="14">
                  <c:v>83.7</c:v>
                </c:pt>
                <c:pt idx="15">
                  <c:v>84.5</c:v>
                </c:pt>
                <c:pt idx="16">
                  <c:v>84.8</c:v>
                </c:pt>
                <c:pt idx="17">
                  <c:v>82.3</c:v>
                </c:pt>
                <c:pt idx="18">
                  <c:v>82</c:v>
                </c:pt>
                <c:pt idx="19">
                  <c:v>87.6</c:v>
                </c:pt>
                <c:pt idx="20">
                  <c:v>86.9</c:v>
                </c:pt>
                <c:pt idx="21">
                  <c:v>90.3</c:v>
                </c:pt>
                <c:pt idx="22">
                  <c:v>99.3</c:v>
                </c:pt>
                <c:pt idx="23">
                  <c:v>99.9</c:v>
                </c:pt>
                <c:pt idx="24">
                  <c:v>100.7</c:v>
                </c:pt>
                <c:pt idx="25">
                  <c:v>99.7</c:v>
                </c:pt>
                <c:pt idx="26">
                  <c:v>98</c:v>
                </c:pt>
                <c:pt idx="27">
                  <c:v>101.7</c:v>
                </c:pt>
                <c:pt idx="28">
                  <c:v>100.8</c:v>
                </c:pt>
                <c:pt idx="29">
                  <c:v>100.7</c:v>
                </c:pt>
                <c:pt idx="30">
                  <c:v>102.8</c:v>
                </c:pt>
                <c:pt idx="31">
                  <c:v>102.6</c:v>
                </c:pt>
                <c:pt idx="32">
                  <c:v>99.1</c:v>
                </c:pt>
                <c:pt idx="33">
                  <c:v>92.1</c:v>
                </c:pt>
                <c:pt idx="34">
                  <c:v>88.9</c:v>
                </c:pt>
                <c:pt idx="35">
                  <c:v>87.8</c:v>
                </c:pt>
                <c:pt idx="36">
                  <c:v>87.5</c:v>
                </c:pt>
                <c:pt idx="37">
                  <c:v>87</c:v>
                </c:pt>
                <c:pt idx="38">
                  <c:v>88.3</c:v>
                </c:pt>
                <c:pt idx="39">
                  <c:v>88.3</c:v>
                </c:pt>
                <c:pt idx="40">
                  <c:v>86.4</c:v>
                </c:pt>
                <c:pt idx="41">
                  <c:v>84.5</c:v>
                </c:pt>
                <c:pt idx="42">
                  <c:v>88</c:v>
                </c:pt>
                <c:pt idx="43">
                  <c:v>88</c:v>
                </c:pt>
                <c:pt idx="44">
                  <c:v>80.3</c:v>
                </c:pt>
                <c:pt idx="45">
                  <c:v>73.8</c:v>
                </c:pt>
                <c:pt idx="46">
                  <c:v>72.3</c:v>
                </c:pt>
                <c:pt idx="47">
                  <c:v>71.7</c:v>
                </c:pt>
                <c:pt idx="48">
                  <c:v>73.2</c:v>
                </c:pt>
                <c:pt idx="49">
                  <c:v>61.5</c:v>
                </c:pt>
                <c:pt idx="50">
                  <c:v>58</c:v>
                </c:pt>
                <c:pt idx="51">
                  <c:v>59.1</c:v>
                </c:pt>
                <c:pt idx="52">
                  <c:v>58.3</c:v>
                </c:pt>
                <c:pt idx="53">
                  <c:v>56.7</c:v>
                </c:pt>
                <c:pt idx="54">
                  <c:v>59.1</c:v>
                </c:pt>
                <c:pt idx="55">
                  <c:v>64.3</c:v>
                </c:pt>
                <c:pt idx="56">
                  <c:v>70.5</c:v>
                </c:pt>
                <c:pt idx="57">
                  <c:v>73.1</c:v>
                </c:pt>
                <c:pt idx="58">
                  <c:v>74.5</c:v>
                </c:pt>
                <c:pt idx="59">
                  <c:v>73.7</c:v>
                </c:pt>
                <c:pt idx="60">
                  <c:v>76.7</c:v>
                </c:pt>
                <c:pt idx="61">
                  <c:v>73.5</c:v>
                </c:pt>
                <c:pt idx="62">
                  <c:v>74.7</c:v>
                </c:pt>
                <c:pt idx="63">
                  <c:v>76.3</c:v>
                </c:pt>
                <c:pt idx="64">
                  <c:v>77.6</c:v>
                </c:pt>
                <c:pt idx="65">
                  <c:v>80.5</c:v>
                </c:pt>
                <c:pt idx="66">
                  <c:v>84.4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2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62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40"/>
        </c:scaling>
        <c:delete val="0"/>
        <c:axPos val="l"/>
        <c:majorGridlines>
          <c:spPr>
            <a:ln w="6350" cap="flat">
              <a:solidFill>
                <a:srgbClr val="221A0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32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62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906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÷ trough, full span</c:v>
                </c:pt>
              </c:strCache>
            </c:strRef>
          </c:tx>
          <c:spPr>
            <a:solidFill>
              <a:srgbClr val="FFB056">
                <a:alpha val="92000"/>
              </a:srgbClr>
            </a:solidFill>
            <a:effectLst/>
          </c:spPr>
          <c:invertIfNegative val="0"/>
          <c:dLbls>
            <c:numFmt formatCode="×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5EFE6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0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A0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57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C8B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US  (1971→)</c:v>
                  </c:pt>
                  <c:pt idx="1">
                    <c:v>EU  (2015→)</c:v>
                  </c:pt>
                  <c:pt idx="2">
                    <c:v>Türkiye  (2010→)</c:v>
                  </c:pt>
                  <c:pt idx="3">
                    <c:v>Israel  (2005→)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6.41</c:v>
                </c:pt>
                <c:pt idx="1">
                  <c:v>2.47</c:v>
                </c:pt>
                <c:pt idx="2">
                  <c:v>2.02</c:v>
                </c:pt>
                <c:pt idx="3">
                  <c:v>1.84</c:v>
                </c:pt>
              </c:numCache>
            </c:numRef>
          </c:val>
        </c:ser>
        <c:dLbls>
          <c:numFmt formatCode="×0.0" sourceLinked="0"/>
          <c:txPr>
            <a:bodyPr/>
            <a:lstStyle/>
            <a:p>
              <a:pPr>
                <a:defRPr b="0" i="0" strike="noStrike" sz="1300" u="none">
                  <a:solidFill>
                    <a:srgbClr val="F5EFE6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322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BF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056"/>
              </a:solidFill>
              <a:ln w="25400" cap="flat">
                <a:solidFill>
                  <a:srgbClr val="0B090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B5A3E"/>
              </a:solidFill>
              <a:ln w="25400" cap="flat">
                <a:solidFill>
                  <a:srgbClr val="0B090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Feed (corn)</c:v>
                </c:pt>
                <c:pt idx="1">
                  <c:v>Cattle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</c:ser>
        <c:firstSliceAng val="0"/>
        <c:holeSize val="62"/>
      </c:doughnutChart>
      <c:spPr>
        <a:solidFill>
          <a:srgbClr val="0B0906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ISRAEL parity index</c:v>
                </c:pt>
              </c:strCache>
            </c:strRef>
          </c:tx>
          <c:spPr>
            <a:solidFill>
              <a:srgbClr val="46C8B2"/>
            </a:solidFill>
            <a:ln w="31750" cap="flat">
              <a:solidFill>
                <a:srgbClr val="46C8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6C8B2"/>
              </a:solidFill>
              <a:ln w="9525" cap="flat">
                <a:solidFill>
                  <a:srgbClr val="46C8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Sheet1!$A$2:$A$260</c:f>
              <c:multiLvlStrCache>
                <c:ptCount val="259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2007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2010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2013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2016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>2019</c:v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2022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>2025</c:v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</c:lvl>
              </c:multiLvlStrCache>
            </c:multiLvlStrRef>
          </c:cat>
          <c:val>
            <c:numRef>
              <c:f>Sheet1!$B$2:$B$260</c:f>
              <c:numCache>
                <c:formatCode>General</c:formatCode>
                <c:ptCount val="259"/>
                <c:pt idx="0">
                  <c:v>73.4</c:v>
                </c:pt>
                <c:pt idx="1">
                  <c:v>74.2</c:v>
                </c:pt>
                <c:pt idx="2">
                  <c:v>73.8</c:v>
                </c:pt>
                <c:pt idx="3">
                  <c:v>74.2</c:v>
                </c:pt>
                <c:pt idx="4">
                  <c:v>73.9</c:v>
                </c:pt>
                <c:pt idx="5">
                  <c:v>74.3</c:v>
                </c:pt>
                <c:pt idx="6">
                  <c:v>72.1</c:v>
                </c:pt>
                <c:pt idx="7">
                  <c:v>75.5</c:v>
                </c:pt>
                <c:pt idx="8">
                  <c:v>80.7</c:v>
                </c:pt>
                <c:pt idx="9">
                  <c:v>81.4</c:v>
                </c:pt>
                <c:pt idx="10">
                  <c:v>83.7</c:v>
                </c:pt>
                <c:pt idx="11">
                  <c:v>83.9</c:v>
                </c:pt>
                <c:pt idx="12">
                  <c:v>88.4</c:v>
                </c:pt>
                <c:pt idx="13">
                  <c:v>89.2</c:v>
                </c:pt>
                <c:pt idx="14">
                  <c:v>89.2</c:v>
                </c:pt>
                <c:pt idx="15">
                  <c:v>88.9</c:v>
                </c:pt>
                <c:pt idx="16">
                  <c:v>88.7</c:v>
                </c:pt>
                <c:pt idx="17">
                  <c:v>88.7</c:v>
                </c:pt>
                <c:pt idx="18">
                  <c:v>87.7</c:v>
                </c:pt>
                <c:pt idx="19">
                  <c:v>86</c:v>
                </c:pt>
                <c:pt idx="20">
                  <c:v>88.4</c:v>
                </c:pt>
                <c:pt idx="21">
                  <c:v>87.3</c:v>
                </c:pt>
                <c:pt idx="22">
                  <c:v>83.6</c:v>
                </c:pt>
                <c:pt idx="23">
                  <c:v>80.6</c:v>
                </c:pt>
                <c:pt idx="24">
                  <c:v>79.5</c:v>
                </c:pt>
                <c:pt idx="25">
                  <c:v>78.6</c:v>
                </c:pt>
                <c:pt idx="26">
                  <c:v>77.8</c:v>
                </c:pt>
                <c:pt idx="27">
                  <c:v>77.5</c:v>
                </c:pt>
                <c:pt idx="28">
                  <c:v>76</c:v>
                </c:pt>
                <c:pt idx="29">
                  <c:v>72.1</c:v>
                </c:pt>
                <c:pt idx="30">
                  <c:v>70.7</c:v>
                </c:pt>
                <c:pt idx="31">
                  <c:v>70.5</c:v>
                </c:pt>
                <c:pt idx="32">
                  <c:v>69.8</c:v>
                </c:pt>
                <c:pt idx="33">
                  <c:v>66.4</c:v>
                </c:pt>
                <c:pt idx="34">
                  <c:v>64.1</c:v>
                </c:pt>
                <c:pt idx="35">
                  <c:v>64.1</c:v>
                </c:pt>
                <c:pt idx="36">
                  <c:v>62.5</c:v>
                </c:pt>
                <c:pt idx="37">
                  <c:v>65</c:v>
                </c:pt>
                <c:pt idx="38">
                  <c:v>64.2</c:v>
                </c:pt>
                <c:pt idx="39">
                  <c:v>64.2</c:v>
                </c:pt>
                <c:pt idx="40">
                  <c:v>67.7</c:v>
                </c:pt>
                <c:pt idx="41">
                  <c:v>76.5</c:v>
                </c:pt>
                <c:pt idx="42">
                  <c:v>83.3</c:v>
                </c:pt>
                <c:pt idx="43">
                  <c:v>82.3</c:v>
                </c:pt>
                <c:pt idx="44">
                  <c:v>83.5</c:v>
                </c:pt>
                <c:pt idx="45">
                  <c:v>85.2</c:v>
                </c:pt>
                <c:pt idx="46">
                  <c:v>86.9</c:v>
                </c:pt>
                <c:pt idx="47">
                  <c:v>88.6</c:v>
                </c:pt>
                <c:pt idx="48">
                  <c:v>89.9</c:v>
                </c:pt>
                <c:pt idx="49">
                  <c:v>89.2</c:v>
                </c:pt>
                <c:pt idx="50">
                  <c:v>88.1</c:v>
                </c:pt>
                <c:pt idx="51">
                  <c:v>87.7</c:v>
                </c:pt>
                <c:pt idx="52">
                  <c:v>90.1</c:v>
                </c:pt>
                <c:pt idx="53">
                  <c:v>90.8</c:v>
                </c:pt>
                <c:pt idx="54">
                  <c:v>93.5</c:v>
                </c:pt>
                <c:pt idx="55">
                  <c:v>95.5</c:v>
                </c:pt>
                <c:pt idx="56">
                  <c:v>96</c:v>
                </c:pt>
                <c:pt idx="57">
                  <c:v>94.8</c:v>
                </c:pt>
                <c:pt idx="58">
                  <c:v>94</c:v>
                </c:pt>
                <c:pt idx="59">
                  <c:v>92.5</c:v>
                </c:pt>
                <c:pt idx="60">
                  <c:v>91.7</c:v>
                </c:pt>
                <c:pt idx="61">
                  <c:v>91.6</c:v>
                </c:pt>
                <c:pt idx="62">
                  <c:v>90.8</c:v>
                </c:pt>
                <c:pt idx="63">
                  <c:v>92.1</c:v>
                </c:pt>
                <c:pt idx="64">
                  <c:v>95.8</c:v>
                </c:pt>
                <c:pt idx="65">
                  <c:v>97.1</c:v>
                </c:pt>
                <c:pt idx="66">
                  <c:v>96.7</c:v>
                </c:pt>
                <c:pt idx="67">
                  <c:v>93.5</c:v>
                </c:pt>
                <c:pt idx="68">
                  <c:v>90.4</c:v>
                </c:pt>
                <c:pt idx="69">
                  <c:v>89.2</c:v>
                </c:pt>
                <c:pt idx="70">
                  <c:v>90.2</c:v>
                </c:pt>
                <c:pt idx="71">
                  <c:v>88.9</c:v>
                </c:pt>
                <c:pt idx="72">
                  <c:v>88.5</c:v>
                </c:pt>
                <c:pt idx="73">
                  <c:v>88.5</c:v>
                </c:pt>
                <c:pt idx="74">
                  <c:v>84.8</c:v>
                </c:pt>
                <c:pt idx="75">
                  <c:v>83.5</c:v>
                </c:pt>
                <c:pt idx="76">
                  <c:v>85.7</c:v>
                </c:pt>
                <c:pt idx="77">
                  <c:v>84.9</c:v>
                </c:pt>
                <c:pt idx="78">
                  <c:v>84.3</c:v>
                </c:pt>
                <c:pt idx="79">
                  <c:v>83.1</c:v>
                </c:pt>
                <c:pt idx="80">
                  <c:v>80.1</c:v>
                </c:pt>
                <c:pt idx="81">
                  <c:v>80.7</c:v>
                </c:pt>
                <c:pt idx="82">
                  <c:v>84.9</c:v>
                </c:pt>
                <c:pt idx="83">
                  <c:v>83.3</c:v>
                </c:pt>
                <c:pt idx="84">
                  <c:v>85.7</c:v>
                </c:pt>
                <c:pt idx="85">
                  <c:v>81.2</c:v>
                </c:pt>
                <c:pt idx="86">
                  <c:v>82.8</c:v>
                </c:pt>
                <c:pt idx="87">
                  <c:v>82.7</c:v>
                </c:pt>
                <c:pt idx="88">
                  <c:v>83.8</c:v>
                </c:pt>
                <c:pt idx="89">
                  <c:v>82.5</c:v>
                </c:pt>
                <c:pt idx="90">
                  <c:v>82.3</c:v>
                </c:pt>
                <c:pt idx="91">
                  <c:v>77.9</c:v>
                </c:pt>
                <c:pt idx="92">
                  <c:v>74.9</c:v>
                </c:pt>
                <c:pt idx="93">
                  <c:v>75.8</c:v>
                </c:pt>
                <c:pt idx="94">
                  <c:v>75.9</c:v>
                </c:pt>
                <c:pt idx="95">
                  <c:v>76.2</c:v>
                </c:pt>
                <c:pt idx="96">
                  <c:v>76.4</c:v>
                </c:pt>
                <c:pt idx="97">
                  <c:v>76.4</c:v>
                </c:pt>
                <c:pt idx="98">
                  <c:v>76.7</c:v>
                </c:pt>
                <c:pt idx="99">
                  <c:v>78.4</c:v>
                </c:pt>
                <c:pt idx="100">
                  <c:v>81.4</c:v>
                </c:pt>
                <c:pt idx="101">
                  <c:v>84.1</c:v>
                </c:pt>
                <c:pt idx="102">
                  <c:v>84.6</c:v>
                </c:pt>
                <c:pt idx="103">
                  <c:v>82.8</c:v>
                </c:pt>
                <c:pt idx="104">
                  <c:v>83.6</c:v>
                </c:pt>
                <c:pt idx="105">
                  <c:v>85</c:v>
                </c:pt>
                <c:pt idx="106">
                  <c:v>84.5</c:v>
                </c:pt>
                <c:pt idx="107">
                  <c:v>84</c:v>
                </c:pt>
                <c:pt idx="108">
                  <c:v>84.9</c:v>
                </c:pt>
                <c:pt idx="109">
                  <c:v>85.1</c:v>
                </c:pt>
                <c:pt idx="110">
                  <c:v>84.5</c:v>
                </c:pt>
                <c:pt idx="111">
                  <c:v>82.1</c:v>
                </c:pt>
                <c:pt idx="112">
                  <c:v>82.7</c:v>
                </c:pt>
                <c:pt idx="113">
                  <c:v>82.2</c:v>
                </c:pt>
                <c:pt idx="114">
                  <c:v>81.2</c:v>
                </c:pt>
                <c:pt idx="115">
                  <c:v>82.8</c:v>
                </c:pt>
                <c:pt idx="116">
                  <c:v>82</c:v>
                </c:pt>
                <c:pt idx="117">
                  <c:v>85.5</c:v>
                </c:pt>
                <c:pt idx="118">
                  <c:v>89.8</c:v>
                </c:pt>
                <c:pt idx="119">
                  <c:v>87.4</c:v>
                </c:pt>
                <c:pt idx="120">
                  <c:v>84.2</c:v>
                </c:pt>
                <c:pt idx="121">
                  <c:v>86.9</c:v>
                </c:pt>
                <c:pt idx="122">
                  <c:v>89.4</c:v>
                </c:pt>
                <c:pt idx="123">
                  <c:v>89.1</c:v>
                </c:pt>
                <c:pt idx="124">
                  <c:v>89.7</c:v>
                </c:pt>
                <c:pt idx="125">
                  <c:v>92</c:v>
                </c:pt>
                <c:pt idx="126">
                  <c:v>99.8</c:v>
                </c:pt>
                <c:pt idx="127">
                  <c:v>99.7</c:v>
                </c:pt>
                <c:pt idx="128">
                  <c:v>98.5</c:v>
                </c:pt>
                <c:pt idx="129">
                  <c:v>99.3</c:v>
                </c:pt>
                <c:pt idx="130">
                  <c:v>99.7</c:v>
                </c:pt>
                <c:pt idx="131">
                  <c:v>100.6</c:v>
                </c:pt>
                <c:pt idx="132">
                  <c:v>101</c:v>
                </c:pt>
                <c:pt idx="133">
                  <c:v>100.4</c:v>
                </c:pt>
                <c:pt idx="134">
                  <c:v>100.6</c:v>
                </c:pt>
                <c:pt idx="135">
                  <c:v>100</c:v>
                </c:pt>
                <c:pt idx="136">
                  <c:v>101.2</c:v>
                </c:pt>
                <c:pt idx="137">
                  <c:v>97.8</c:v>
                </c:pt>
                <c:pt idx="138">
                  <c:v>94.3</c:v>
                </c:pt>
                <c:pt idx="139">
                  <c:v>99.4</c:v>
                </c:pt>
                <c:pt idx="140">
                  <c:v>100.2</c:v>
                </c:pt>
                <c:pt idx="141">
                  <c:v>101.9</c:v>
                </c:pt>
                <c:pt idx="142">
                  <c:v>101.8</c:v>
                </c:pt>
                <c:pt idx="143">
                  <c:v>101.4</c:v>
                </c:pt>
                <c:pt idx="144">
                  <c:v>101.1</c:v>
                </c:pt>
                <c:pt idx="145">
                  <c:v>101.2</c:v>
                </c:pt>
                <c:pt idx="146">
                  <c:v>100</c:v>
                </c:pt>
                <c:pt idx="147">
                  <c:v>99.6</c:v>
                </c:pt>
                <c:pt idx="148">
                  <c:v>101.1</c:v>
                </c:pt>
                <c:pt idx="149">
                  <c:v>101.6</c:v>
                </c:pt>
                <c:pt idx="150">
                  <c:v>102.1</c:v>
                </c:pt>
                <c:pt idx="151">
                  <c:v>102.6</c:v>
                </c:pt>
                <c:pt idx="152">
                  <c:v>103.6</c:v>
                </c:pt>
                <c:pt idx="153">
                  <c:v>103.4</c:v>
                </c:pt>
                <c:pt idx="154">
                  <c:v>102</c:v>
                </c:pt>
                <c:pt idx="155">
                  <c:v>102.3</c:v>
                </c:pt>
                <c:pt idx="156">
                  <c:v>100.5</c:v>
                </c:pt>
                <c:pt idx="157">
                  <c:v>99.1</c:v>
                </c:pt>
                <c:pt idx="158">
                  <c:v>97.6</c:v>
                </c:pt>
                <c:pt idx="159">
                  <c:v>96.9</c:v>
                </c:pt>
                <c:pt idx="160">
                  <c:v>90.3</c:v>
                </c:pt>
                <c:pt idx="161">
                  <c:v>89</c:v>
                </c:pt>
                <c:pt idx="162">
                  <c:v>88.8</c:v>
                </c:pt>
                <c:pt idx="163">
                  <c:v>88.4</c:v>
                </c:pt>
                <c:pt idx="164">
                  <c:v>89.5</c:v>
                </c:pt>
                <c:pt idx="165">
                  <c:v>88.5</c:v>
                </c:pt>
                <c:pt idx="166">
                  <c:v>87.6</c:v>
                </c:pt>
                <c:pt idx="167">
                  <c:v>87.4</c:v>
                </c:pt>
                <c:pt idx="168">
                  <c:v>87.4</c:v>
                </c:pt>
                <c:pt idx="169">
                  <c:v>87.6</c:v>
                </c:pt>
                <c:pt idx="170">
                  <c:v>87.6</c:v>
                </c:pt>
                <c:pt idx="171">
                  <c:v>87</c:v>
                </c:pt>
                <c:pt idx="172">
                  <c:v>85.5</c:v>
                </c:pt>
                <c:pt idx="173">
                  <c:v>88.5</c:v>
                </c:pt>
                <c:pt idx="174">
                  <c:v>88.4</c:v>
                </c:pt>
                <c:pt idx="175">
                  <c:v>88</c:v>
                </c:pt>
                <c:pt idx="176">
                  <c:v>88.4</c:v>
                </c:pt>
                <c:pt idx="177">
                  <c:v>87.2</c:v>
                </c:pt>
                <c:pt idx="178">
                  <c:v>88.7</c:v>
                </c:pt>
                <c:pt idx="179">
                  <c:v>88.9</c:v>
                </c:pt>
                <c:pt idx="180">
                  <c:v>88.3</c:v>
                </c:pt>
                <c:pt idx="181">
                  <c:v>85.6</c:v>
                </c:pt>
                <c:pt idx="182">
                  <c:v>85.2</c:v>
                </c:pt>
                <c:pt idx="183">
                  <c:v>83.8</c:v>
                </c:pt>
                <c:pt idx="184">
                  <c:v>84.6</c:v>
                </c:pt>
                <c:pt idx="185">
                  <c:v>85.1</c:v>
                </c:pt>
                <c:pt idx="186">
                  <c:v>85.4</c:v>
                </c:pt>
                <c:pt idx="187">
                  <c:v>85.4</c:v>
                </c:pt>
                <c:pt idx="188">
                  <c:v>93.3</c:v>
                </c:pt>
                <c:pt idx="189">
                  <c:v>86</c:v>
                </c:pt>
                <c:pt idx="190">
                  <c:v>94.1</c:v>
                </c:pt>
                <c:pt idx="191">
                  <c:v>83.8</c:v>
                </c:pt>
                <c:pt idx="192">
                  <c:v>81.7</c:v>
                </c:pt>
                <c:pt idx="193">
                  <c:v>81.2</c:v>
                </c:pt>
                <c:pt idx="194">
                  <c:v>77.9</c:v>
                </c:pt>
                <c:pt idx="195">
                  <c:v>73.8</c:v>
                </c:pt>
                <c:pt idx="196">
                  <c:v>74.2</c:v>
                </c:pt>
                <c:pt idx="197">
                  <c:v>73.5</c:v>
                </c:pt>
                <c:pt idx="198">
                  <c:v>72.7</c:v>
                </c:pt>
                <c:pt idx="199">
                  <c:v>72.2</c:v>
                </c:pt>
                <c:pt idx="200">
                  <c:v>71.9</c:v>
                </c:pt>
                <c:pt idx="201">
                  <c:v>71.5</c:v>
                </c:pt>
                <c:pt idx="202">
                  <c:v>72.2</c:v>
                </c:pt>
                <c:pt idx="203">
                  <c:v>71.4</c:v>
                </c:pt>
                <c:pt idx="204">
                  <c:v>76.3</c:v>
                </c:pt>
                <c:pt idx="205">
                  <c:v>75.3</c:v>
                </c:pt>
                <c:pt idx="206">
                  <c:v>68</c:v>
                </c:pt>
                <c:pt idx="207">
                  <c:v>63.9</c:v>
                </c:pt>
                <c:pt idx="208">
                  <c:v>61.2</c:v>
                </c:pt>
                <c:pt idx="209">
                  <c:v>59.3</c:v>
                </c:pt>
                <c:pt idx="210">
                  <c:v>57.7</c:v>
                </c:pt>
                <c:pt idx="211">
                  <c:v>58</c:v>
                </c:pt>
                <c:pt idx="212">
                  <c:v>58.4</c:v>
                </c:pt>
                <c:pt idx="213">
                  <c:v>58.6</c:v>
                </c:pt>
                <c:pt idx="214">
                  <c:v>58.8</c:v>
                </c:pt>
                <c:pt idx="215">
                  <c:v>59.8</c:v>
                </c:pt>
                <c:pt idx="216">
                  <c:v>59.9</c:v>
                </c:pt>
                <c:pt idx="217">
                  <c:v>57.5</c:v>
                </c:pt>
                <c:pt idx="218">
                  <c:v>57.5</c:v>
                </c:pt>
                <c:pt idx="219">
                  <c:v>57.2</c:v>
                </c:pt>
                <c:pt idx="220">
                  <c:v>56.5</c:v>
                </c:pt>
                <c:pt idx="221">
                  <c:v>56.4</c:v>
                </c:pt>
                <c:pt idx="222">
                  <c:v>57.6</c:v>
                </c:pt>
                <c:pt idx="223">
                  <c:v>59.1</c:v>
                </c:pt>
                <c:pt idx="224">
                  <c:v>60.5</c:v>
                </c:pt>
                <c:pt idx="225">
                  <c:v>60.5</c:v>
                </c:pt>
                <c:pt idx="226">
                  <c:v>65.9</c:v>
                </c:pt>
                <c:pt idx="227">
                  <c:v>66.5</c:v>
                </c:pt>
                <c:pt idx="228">
                  <c:v>68.4</c:v>
                </c:pt>
                <c:pt idx="229">
                  <c:v>69.3</c:v>
                </c:pt>
                <c:pt idx="230">
                  <c:v>73.7</c:v>
                </c:pt>
                <c:pt idx="231">
                  <c:v>73.1</c:v>
                </c:pt>
                <c:pt idx="232">
                  <c:v>72</c:v>
                </c:pt>
                <c:pt idx="233">
                  <c:v>74.2</c:v>
                </c:pt>
                <c:pt idx="234">
                  <c:v>74.4</c:v>
                </c:pt>
                <c:pt idx="235">
                  <c:v>74.3</c:v>
                </c:pt>
                <c:pt idx="236">
                  <c:v>74.7</c:v>
                </c:pt>
                <c:pt idx="237">
                  <c:v>73.8</c:v>
                </c:pt>
                <c:pt idx="238">
                  <c:v>74.1</c:v>
                </c:pt>
                <c:pt idx="239">
                  <c:v>73.3</c:v>
                </c:pt>
                <c:pt idx="240">
                  <c:v>77.1</c:v>
                </c:pt>
                <c:pt idx="241">
                  <c:v>76.7</c:v>
                </c:pt>
                <c:pt idx="242">
                  <c:v>76.3</c:v>
                </c:pt>
                <c:pt idx="243">
                  <c:v>73.5</c:v>
                </c:pt>
                <c:pt idx="244">
                  <c:v>73.4</c:v>
                </c:pt>
                <c:pt idx="245">
                  <c:v>73.7</c:v>
                </c:pt>
                <c:pt idx="246">
                  <c:v>74.2</c:v>
                </c:pt>
                <c:pt idx="247">
                  <c:v>74.9</c:v>
                </c:pt>
                <c:pt idx="248">
                  <c:v>75</c:v>
                </c:pt>
                <c:pt idx="249">
                  <c:v>75.5</c:v>
                </c:pt>
                <c:pt idx="250">
                  <c:v>76</c:v>
                </c:pt>
                <c:pt idx="251">
                  <c:v>77.4</c:v>
                </c:pt>
                <c:pt idx="252">
                  <c:v>76.8</c:v>
                </c:pt>
                <c:pt idx="253">
                  <c:v>78.4</c:v>
                </c:pt>
                <c:pt idx="254">
                  <c:v>77.5</c:v>
                </c:pt>
                <c:pt idx="255">
                  <c:v>77.5</c:v>
                </c:pt>
                <c:pt idx="256">
                  <c:v>80.9</c:v>
                </c:pt>
                <c:pt idx="257">
                  <c:v>83</c:v>
                </c:pt>
                <c:pt idx="258">
                  <c:v>84.4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2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62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50"/>
        </c:scaling>
        <c:delete val="0"/>
        <c:axPos val="l"/>
        <c:majorGridlines>
          <c:spPr>
            <a:ln w="6350" cap="flat">
              <a:solidFill>
                <a:srgbClr val="221A0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322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C62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study: one ratio (meat over feed), four markets, one methodology. US since 1971, Israel is the newest addition. All data public, all figures recomputable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caveat up front: index ratios, not physical quantities. Israel required base-chaining — the one technical fix worth mentioning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one-chart story: the 2021-22 grain shock hits all four, the recovery order differs. US still in record territory; EU and TR normalizing; Israel back near its own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Spans differ, so this compares each market against its own history, not markets against each other. Israel's calm is partly structural: fodder is a smoothed input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one number survives the meeting, make it 84/16. The cattle side is slow biology; the feed side is where the volatility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Israel and not others: only Middle East market publishing both sides monthly, machine-readably, from one office. If asked why beef-vs-fodder: the TR-parallel pair gives the same answer, r = 0.96.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framing: this is 'Israel joins the panel', not 'the Middle East'. Saudi is one transcription away if anyone wants it — but it would still need its own labelled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different phases of one cycle: US late-cycle high, EU cresting, TR structurally flat, IL mean-reverted. This is the slide that sets up the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the house rule: findings end in instructions. US timing, EU top-calling, TR is an FX story, IL is the benchmark. Each has a falsifier.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trust: every number traces to a committed file and a public source. Invite anyone to recompute.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DATA STUDY · 1971 –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kilo of meat,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feed?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cattle parity — meat price against feed price — across four markets on one methodology.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8120A"/>
          </a:solidFill>
          <a:ln w="15875">
            <a:solidFill>
              <a:srgbClr val="FFB0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8120A"/>
          </a:solidFill>
          <a:ln w="15875">
            <a:solidFill>
              <a:srgbClr val="8AA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A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EUROPEAN UNION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470916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18120A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47091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TÜRKİYE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470916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18120A"/>
          </a:solidFill>
          <a:ln w="15875">
            <a:solidFill>
              <a:srgbClr val="46C8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47091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ISRAEL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1,255</a:t>
            </a:r>
            <a:pPr indent="0" marL="0">
              <a:buNone/>
            </a:pPr>
            <a:r>
              <a:rPr lang="en-US" sz="13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observations · refreshed automatically each month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ratio, read as change — never as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221A0E"/>
          </a:solidFill>
          <a:ln w="12700">
            <a:solidFill>
              <a:srgbClr val="FFB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</a:t>
            </a:r>
            <a:pPr indent="0" marL="0">
              <a:buNone/>
            </a:pPr>
            <a:r>
              <a:rPr lang="en-US" sz="1500" dirty="0">
                <a:solidFill>
                  <a:srgbClr val="F5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meat price  ÷  feed price      </a:t>
            </a:r>
            <a:pPr indent="0" marL="0">
              <a:buNone/>
            </a:pPr>
            <a:r>
              <a:rPr lang="en-US" sz="1200" dirty="0">
                <a:solidFill>
                  <a:srgbClr val="CBB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parity ÷ 2016 mean × 100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572768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parity favours the feeder. Units differ across markets, so each series is set to its own 2016 mean = 100 and only changes are compared — a level like 2.44 is not “kilos of feed per kilo of meat”.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7C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7C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MEAT SIDE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7C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FEED SIDE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7C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 · SPAN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Slaughter cattle PPI (WPU0131)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 PPI (WPU012202)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 / BLS · 1971-01 → 2026-07 · 667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bull carcass R3, €/100 kg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maize, €/t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 Agri-food Portal · 2015-11 → 2026-08 · 130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Türkiye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Meat &amp; meat products PPI (T17)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Compound feed PPI (T25)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TurkStat / CBRT EVDS · 2010-01 → 2026-07 · 199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Israel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 beef PPI (CBS 190030)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Fodder input index (CBS 260030)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B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Israel CBS API · 2005-01 → 2026-07 · 259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C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is base-chained: </a:t>
            </a:r>
            <a:pPr indent="0" marL="0">
              <a:buNone/>
            </a:pPr>
            <a:r>
              <a:rPr lang="en-US" sz="11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rebases its indices; the raw feed carries fake cliffs (−42% in 2013, −48% in 2021). We chain the history onto the newest base with CBS's published coefficients — the chained 2020 mean is exactly 100 on both sides.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FRED/BLS · EC AGRI-FOOD DATA PORTAL · TURKSTAT/EVDS · ISRAEL CBS — SERIES CODES ABOVE · DATA: github.com/namikakmandev/namikakmandev.github.io /data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1 · ALL FOUR MARKETS · 2010 –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wave, four suspensions — parity index, own 2016 mean = 100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8595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372600" y="1691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8120A"/>
          </a:solidFill>
          <a:ln w="12700">
            <a:solidFill>
              <a:srgbClr val="FFB05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28048" y="1764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
</a:t>
            </a:r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+70%</a:t>
            </a:r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372600" y="2834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8120A"/>
          </a:solidFill>
          <a:ln w="12700">
            <a:solidFill>
              <a:srgbClr val="8AA0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8048" y="2907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EUROPEAN UNION
</a:t>
            </a:r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372600" y="3977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8120A"/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8048" y="4050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TÜRKİYE
</a:t>
            </a:r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2016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372600" y="5120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8120A"/>
          </a:solidFill>
          <a:ln w="12700">
            <a:solidFill>
              <a:srgbClr val="46C8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28048" y="5193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ISRAEL
</a:t>
            </a:r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−16%</a:t>
            </a:r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2016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MEANS OF MONTHLY PARITY, EACH SERIES ÷ ITS OWN 2016 MEAN × 100 · SOURCES AS ON SLIDE 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2 · FULL HISTORY OF EACH 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cycle, very different violence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×6.4
</a:t>
            </a:r>
            <a:pPr indent="0" marL="0">
              <a:buNone/>
            </a:pPr>
            <a:r>
              <a:rPr lang="en-US" sz="12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peak-to-trough — feeder purchasing power moved 6.4-fold across the cycle.
</a:t>
            </a:r>
            <a:pPr indent="0" marL="0">
              <a:buNone/>
            </a:pPr>
            <a:r>
              <a:rPr lang="en-US" sz="3800" b="1" dirty="0">
                <a:solidFill>
                  <a:srgbClr val="46C8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×1.8
</a:t>
            </a:r>
            <a:pPr indent="0" marL="0">
              <a:buNone/>
            </a:pPr>
            <a:r>
              <a:rPr lang="en-US" sz="12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— the calmest market in the panel. Ten-year volatility: US 35% · EU 22% · TR 20% · IL 17%.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= SERIES MAX ÷ SERIES MIN OVER ITS FULL SPAN (SPANS DIFFER — SHOWN ON AXIS) · VOLATILITY = STD ÷ MEAN, LAST 10 YEARS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DECOMPOSITION · US SERIES, 1971 –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grain cycle wearing a cattle costume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828800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pPr algn="ctr" indent="0" marL="0">
              <a:buNone/>
            </a:pP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side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0" y="192024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Decomposing the variance of the year-on-year change in US parity: </a:t>
            </a:r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comes from corn, 16% from cattle.
</a:t>
            </a:r>
            <a:pPr indent="0" marL="0">
              <a:buNone/>
            </a:pPr>
            <a:r>
              <a:rPr lang="en-US" sz="14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signature shows in 2021-23 everywhere: the global grain shock crushed parity in all four markets — Israel's trough (Jun 2023, 0.65 vs its 0.95 mean) is that shock arriving through imported feed grain.
</a:t>
            </a:r>
            <a:pPr indent="0" marL="0">
              <a:buNone/>
            </a:pPr>
            <a:r>
              <a:rPr lang="en-US" sz="1400" b="1" dirty="0">
                <a:solidFill>
                  <a:srgbClr val="FFB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watching this ratio means watching the grain market first.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US-ONLY DECOMPOSITION (LONGEST SERIES) · METHOD PUBLISHED IN THE METHODOLOGY NOTE · parite-sigir-metodoloji.html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 THE PANEL · ISRAEL · 2005 –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joins on equal terms — and confirms the thesis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15544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
</a:t>
            </a:r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beef PPI ÷ fodder input index — output over input from one national office, monthly, like Türkiye's pair.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183880" y="2724912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2023 TROUGH
</a:t>
            </a:r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vs a 0.95 long-run mean (Jun 2023): the global grain shock arriving via imported feed. Today: 0.97 — back at the mean.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183880" y="3895344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CALMEST MARKET
</a:t>
            </a:r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Peak-to-trough ×1.8 against the US ×6.4 — same cycle, least violence.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83880" y="5065776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 ROBUSTNESS
</a:t>
            </a:r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exact TR-parallel pair (meat processing ÷ prepared feeds): r = 0.96 in levels, 0.89 in annual changes over 162 common months — same trough, same calm. The conclusion does not depend on the pair chosen.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ISRAEL CBS INDEX API · CODES 190030 / 260030 · BASE-CHAINED (SLIDE 2) · ROBUSTNESS PAIR 180073 / 180195 · INDEX: OWN 2016 MEAN = 100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· WHAT WE CHECKED AND REJECTED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study gains one market, not a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— OUT FOR 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0" y="1627632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WPI has both sides, but no machine-readable endpoint exists (portal times out, API 404 — bulletins only). And Gulf feed is imported under a changing subsidy regime: a different economic object, usable only on a labelled axis.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 · Jordan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328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B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FREQUENCY, WRONG FORMAT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indices exist but ship as PDF bulletins — a transcription project, not a data pull. Jordan also lacks a domestic feed index.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59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535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COMPARABLE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0" y="404164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only, and feed prices ride an administered FX rate — the denominator is not a market price.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669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states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742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MEASURE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5248656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UAE, Qatar, Kuwait, Oman, Bahrain: negligible domestic cattle feeding, no published indices.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HAND-EXTRACTED CSV FROM GASTAT'S MONTHLY BULLETINS WOULD ADMIT SAUDI AS A LABELLED EXCEPTION — THE PIPELINE ALREADY ACCEPTS IT (SA_WPI_CSV)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· JUN – AUG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market stands against its own 2016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18120A"/>
          </a:solidFill>
          <a:ln w="15875">
            <a:solidFill>
              <a:srgbClr val="FFB0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own 2016 mean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territory. Peaked Aug 2025 at 2.54; deepest herd liquidation in decades keeps meat dear while corn is cheap.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18120A"/>
          </a:solidFill>
          <a:ln w="15875">
            <a:solidFill>
              <a:srgbClr val="8AA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EUROPEAN UNION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own 2016 mean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the peak. Topped Feb 2026 at 3.49, normalizing since — feed grain cheapening does the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18120A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TÜRKİYE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73952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own 2016 mean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33832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by construction. Meat ×8 and feed ×4 since the trough — both sides inflate on the same wave, the ratio barely moves.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18120A"/>
          </a:solidFill>
          <a:ln w="15875">
            <a:solidFill>
              <a:srgbClr val="46C8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3602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C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ISRAEL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36024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336024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own 2016 mean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36024" y="33832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its 2016 level but back at its long-run mean (0.97 vs 0.95) after the 2023 imported-grain trough.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LATEST MONTHLY PARITY ÷ OWN 2016 MEAN · LATEST: US 2026-07 · EU 2026-08 · TR 2026-07 · IL 2026-07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IMPLICATIONS · ONE INSTRUCTION PER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with this on Monday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502920" cy="502920"/>
          </a:xfrm>
          <a:prstGeom prst="ellipse">
            <a:avLst/>
          </a:prstGeom>
          <a:solidFill>
            <a:srgbClr val="FFB05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9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on the mean, not the peak.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52160" y="162763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peaks mean-reverted in 2–4 years and this one is already a year old. Plan debt and expansion on the 1.08 long-run mean, not 2.44. Changes if: the herd rebuild stalls through 2027.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54096"/>
            <a:ext cx="502920" cy="502920"/>
          </a:xfrm>
          <a:prstGeom prst="ellipse">
            <a:avLst/>
          </a:prstGeom>
          <a:solidFill>
            <a:srgbClr val="8AA0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9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8712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Feb 2026 as the top.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852160" y="28346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is off its 3.49 peak with feed cheapening; assume normalization toward the 2.24 mean into 2027. Changes if: a new grain shock re-tightens feed.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61104"/>
            <a:ext cx="502920" cy="50292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9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07822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feed FX, not the ratio.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852160" y="404164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ratio is flat because both sides inflate together; the margin story lives in currency-fed feed costs. Changes if: feed inflation decouples from meat price controls.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8120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68112"/>
            <a:ext cx="502920" cy="502920"/>
          </a:xfrm>
          <a:prstGeom prst="ellipse">
            <a:avLst/>
          </a:prstGeom>
          <a:solidFill>
            <a:srgbClr val="46C8B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9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528523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as the benchmark.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852160" y="524865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Calmest series in the panel and freshly mean-reverted — the cleanest baseline for pricing cycle risk in the region. Changes if: fodder import costs spike again as in 2021-23.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INSTRUCTION NAMES ITS FALSIFIER — IF THE NAMED CONDITION OCCURS, THE INSTRUCTION CHANGES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9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recomputable from committed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 </a:t>
            </a:r>
            <a:pPr indent="0" marL="0">
              <a:buNone/>
            </a:pPr>
            <a:r>
              <a:rPr lang="en-US" sz="11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producer price indexes WPU0131 (slaughter cattle) ÷ WPU012202 (corn), via FRED · 1971-01 → 2026-07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 </a:t>
            </a:r>
            <a:pPr indent="0" marL="0">
              <a:buNone/>
            </a:pPr>
            <a:r>
              <a:rPr lang="en-US" sz="11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Agri-food Data Portal: young bull R3 carcass €/100 kg ÷ feed maize €/t, monthly means of weekly quotes · 2015-11 → 2026-08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TÜRKİYE  </a:t>
            </a:r>
            <a:pPr indent="0" marL="0">
              <a:buNone/>
            </a:pPr>
            <a:r>
              <a:rPr lang="en-US" sz="11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TurkStat Yİ-ÜFE via CBRT EVDS: TP.TUFE1YI.T17 (meat &amp; meat products) ÷ TP.TUFE1YI.T25 (compound feeds) · 2010-01 → 2026-07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ISRAEL  </a:t>
            </a:r>
            <a:pPr indent="0" marL="0">
              <a:buNone/>
            </a:pPr>
            <a:r>
              <a:rPr lang="en-US" sz="110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CBS index API: 190030 (fresh beef PPI) ÷ 260030 (fodder input index), base-chained · 2005-01 → 2026-07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limits: </a:t>
            </a:r>
            <a:pPr indent="0" marL="0">
              <a:buNone/>
            </a:pPr>
            <a:r>
              <a:rPr lang="en-US" sz="11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measure different objects (live cattle / carcass / processed meat; corn / feed grain / compound feed / fodder) — changes are compared, never levels. Spans differ. Israel's raw feed has rebasing cliffs; we chain and verify (2020 mean = 100 both sides). Israel's pair choice is robustness-checked against the TR-parallel pair (r = 0.96; data/cattle-il-alt.json). Saudi Arabia is declared missing, not silently dropped.
</a:t>
            </a:r>
            <a:pPr indent="0" marL="0">
              <a:buNone/>
            </a:pPr>
            <a:r>
              <a:rPr lang="en-US" sz="11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code: </a:t>
            </a:r>
            <a:pPr indent="0" marL="0">
              <a:buNone/>
            </a:pPr>
            <a:r>
              <a:rPr lang="en-US" sz="1150" dirty="0">
                <a:solidFill>
                  <a:srgbClr val="CB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github.com/namikakmandev/namikakmandev.github.io — data/cattle-*.json, scripts/fetch_cattle_data.py, refreshed monthly by GitHub Actions (cron, 3rd of month). Deck regenerable: scripts/deck_data.py + scripts/gen_parity_deck.js. Interactive version: namikakman.dev/parite-sigir.html · methodology: /parite-sigir-metodoloji.html. Data cut-off: Aug 2026.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2026-08-21T09:05:38Z</dcterms:created>
  <dcterms:modified xsi:type="dcterms:W3CDTF">2026-08-21T09:05:38Z</dcterms:modified>
</cp:coreProperties>
</file>